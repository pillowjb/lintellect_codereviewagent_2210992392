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6"/>
  </p:notesMasterIdLst>
  <p:handoutMasterIdLst>
    <p:handoutMasterId r:id="rId17"/>
  </p:handoutMasterIdLst>
  <p:sldIdLst>
    <p:sldId id="256" r:id="rId5"/>
    <p:sldId id="257" r:id="rId6"/>
    <p:sldId id="270" r:id="rId7"/>
    <p:sldId id="271" r:id="rId8"/>
    <p:sldId id="276" r:id="rId9"/>
    <p:sldId id="272" r:id="rId10"/>
    <p:sldId id="277" r:id="rId11"/>
    <p:sldId id="273" r:id="rId12"/>
    <p:sldId id="274" r:id="rId13"/>
    <p:sldId id="275" r:id="rId14"/>
    <p:sldId id="268"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1" d="100"/>
          <a:sy n="101" d="100"/>
        </p:scale>
        <p:origin x="922"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t>4/29/2026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7485"/>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(22CS421)</a:t>
            </a:r>
          </a:p>
          <a:p>
            <a:pPr algn="ctr">
              <a:lnSpc>
                <a:spcPct val="100000"/>
              </a:lnSpc>
              <a:spcBef>
                <a:spcPts val="400"/>
              </a:spcBef>
            </a:pPr>
            <a:r>
              <a:rPr lang="en-US"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400" dirty="0" err="1">
                <a:latin typeface="Times New Roman" panose="02020603050405020304" pitchFamily="18" charset="0"/>
                <a:ea typeface="Calibri" panose="020F0502020204030204" pitchFamily="34" charset="0"/>
                <a:cs typeface="Times New Roman" panose="02020603050405020304" pitchFamily="18" charset="0"/>
              </a:rPr>
              <a:t>Lintellect</a:t>
            </a:r>
            <a:r>
              <a:rPr lang="en-US" sz="4400" dirty="0">
                <a:latin typeface="Times New Roman" panose="02020603050405020304" pitchFamily="18" charset="0"/>
                <a:ea typeface="Calibri" panose="020F0502020204030204" pitchFamily="34" charset="0"/>
                <a:cs typeface="Times New Roman" panose="02020603050405020304" pitchFamily="18" charset="0"/>
              </a:rPr>
              <a:t>: Code Review Agent</a:t>
            </a: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Sneha</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 Sharma</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2210992392</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 </a:t>
            </a:r>
            <a:r>
              <a:rPr lang="en-IN" dirty="0"/>
              <a:t>Dr. Monika Aggarwal</a:t>
            </a:r>
          </a:p>
          <a:p>
            <a:pPr algn="ctr">
              <a:spcBef>
                <a:spcPts val="400"/>
              </a:spcBef>
            </a:pPr>
            <a:endParaRPr lang="en-IN" sz="2000" spc="-1" dirty="0">
              <a:latin typeface="Times New Roman" panose="02020603050405020304" pitchFamily="18" charset="0"/>
              <a:ea typeface="MS PGothic"/>
              <a:cs typeface="Times New Roman" panose="02020603050405020304" pitchFamily="18" charset="0"/>
            </a:endParaRPr>
          </a:p>
          <a:p>
            <a:pPr algn="ctr">
              <a:spcBef>
                <a:spcPts val="400"/>
              </a:spcBef>
            </a:pPr>
            <a:endParaRPr lang="en-IN" sz="2000" spc="-1" dirty="0">
              <a:latin typeface="Times New Roman" panose="02020603050405020304" pitchFamily="18" charset="0"/>
              <a:ea typeface="MS PGothic"/>
              <a:cs typeface="Times New Roman" panose="02020603050405020304" pitchFamily="18" charset="0"/>
            </a:endParaRPr>
          </a:p>
          <a:p>
            <a:pPr algn="ctr">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52640" y="1102185"/>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Background and Motivation: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 the fast-paced world of modern software development, the </a:t>
            </a:r>
            <a:r>
              <a:rPr lang="en-US" sz="2000" b="1" dirty="0">
                <a:latin typeface="Times New Roman" panose="02020603050405020304" pitchFamily="18" charset="0"/>
                <a:cs typeface="Times New Roman" panose="02020603050405020304" pitchFamily="18" charset="0"/>
              </a:rPr>
              <a:t>Pull Request (PR)</a:t>
            </a:r>
            <a:r>
              <a:rPr lang="en-US" sz="2000" dirty="0">
                <a:latin typeface="Times New Roman" panose="02020603050405020304" pitchFamily="18" charset="0"/>
                <a:cs typeface="Times New Roman" panose="02020603050405020304" pitchFamily="18" charset="0"/>
              </a:rPr>
              <a:t> review process is often the biggest bottleneck in the CI/CD pipeline. Human reviewers are frequently overwhelmed by high-volume code changes, leading to two common failures: "rubber-stamping" PRs without deep scrutiny or focusing exclusively on superficial style nits while missing critical logical flaws.</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Objectives:</a:t>
            </a:r>
          </a:p>
          <a:p>
            <a:pPr marL="914400" lvl="1" indent="-317500">
              <a:buClr>
                <a:srgbClr val="000000"/>
              </a:buClr>
              <a:buSzPts val="1400"/>
              <a:buChar char="●"/>
            </a:pPr>
            <a:r>
              <a:rPr lang="en-IN" sz="2000" b="1" dirty="0">
                <a:latin typeface="Times New Roman" panose="02020603050405020304" pitchFamily="18" charset="0"/>
                <a:cs typeface="Times New Roman" panose="02020603050405020304" pitchFamily="18" charset="0"/>
              </a:rPr>
              <a:t>Centralized AI-Driven Review Platform:</a:t>
            </a:r>
            <a:r>
              <a:rPr lang="en-IN" sz="2000" dirty="0">
                <a:latin typeface="Times New Roman" panose="02020603050405020304" pitchFamily="18" charset="0"/>
                <a:cs typeface="Times New Roman" panose="02020603050405020304" pitchFamily="18" charset="0"/>
              </a:rPr>
              <a:t> Develop a </a:t>
            </a:r>
            <a:r>
              <a:rPr lang="en-IN" sz="2000" dirty="0" err="1">
                <a:latin typeface="Times New Roman" panose="02020603050405020304" pitchFamily="18" charset="0"/>
                <a:cs typeface="Times New Roman" panose="02020603050405020304" pitchFamily="18" charset="0"/>
              </a:rPr>
              <a:t>FastAPI</a:t>
            </a:r>
            <a:r>
              <a:rPr lang="en-IN" sz="2000" dirty="0">
                <a:latin typeface="Times New Roman" panose="02020603050405020304" pitchFamily="18" charset="0"/>
                <a:cs typeface="Times New Roman" panose="02020603050405020304" pitchFamily="18" charset="0"/>
              </a:rPr>
              <a:t>-based agent that automatically detects programming languages and provides context-aware reviews for diverse codebases (Python, JS/TS, Go, Java, etc.).</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marL="914400" lvl="1" indent="-317500">
              <a:buClr>
                <a:srgbClr val="000000"/>
              </a:buClr>
              <a:buSzPts val="1400"/>
              <a:buChar char="●"/>
            </a:pPr>
            <a:r>
              <a:rPr lang="en-US" sz="2000" b="1" dirty="0">
                <a:latin typeface="Times New Roman" panose="02020603050405020304" pitchFamily="18" charset="0"/>
                <a:cs typeface="Times New Roman" panose="02020603050405020304" pitchFamily="18" charset="0"/>
              </a:rPr>
              <a:t>Multi-Stage Reasoning Workflow:</a:t>
            </a:r>
            <a:r>
              <a:rPr lang="en-US" sz="2000" dirty="0">
                <a:latin typeface="Times New Roman" panose="02020603050405020304" pitchFamily="18" charset="0"/>
                <a:cs typeface="Times New Roman" panose="02020603050405020304" pitchFamily="18" charset="0"/>
              </a:rPr>
              <a:t> Implement a </a:t>
            </a:r>
            <a:r>
              <a:rPr lang="en-US" sz="2000" b="1" dirty="0" err="1">
                <a:latin typeface="Times New Roman" panose="02020603050405020304" pitchFamily="18" charset="0"/>
                <a:cs typeface="Times New Roman" panose="02020603050405020304" pitchFamily="18" charset="0"/>
              </a:rPr>
              <a:t>StateGraph</a:t>
            </a:r>
            <a:r>
              <a:rPr lang="en-US" sz="2000" dirty="0">
                <a:latin typeface="Times New Roman" panose="02020603050405020304" pitchFamily="18" charset="0"/>
                <a:cs typeface="Times New Roman" panose="02020603050405020304" pitchFamily="18" charset="0"/>
              </a:rPr>
              <a:t> architecture to decompose the review process into four distinct phases: initial analysis, issue discovery, false-positive validation, and executive reporting.</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914400" lvl="1" indent="-317500">
              <a:buClr>
                <a:srgbClr val="000000"/>
              </a:buClr>
              <a:buSzPts val="1400"/>
              <a:buChar char="●"/>
            </a:pPr>
            <a:r>
              <a:rPr lang="en-IN" sz="2000" b="1" dirty="0">
                <a:latin typeface="Times New Roman" panose="02020603050405020304" pitchFamily="18" charset="0"/>
                <a:cs typeface="Times New Roman" panose="02020603050405020304" pitchFamily="18" charset="0"/>
              </a:rPr>
              <a:t>Seamless Pipeline Integration:</a:t>
            </a:r>
            <a:r>
              <a:rPr lang="en-IN" sz="2000" dirty="0">
                <a:latin typeface="Times New Roman" panose="02020603050405020304" pitchFamily="18" charset="0"/>
                <a:cs typeface="Times New Roman" panose="02020603050405020304" pitchFamily="18" charset="0"/>
              </a:rPr>
              <a:t> Provide a secure, CORS-enabled API designed to trigger automatically during GitLab/GitHub pipeline runs, delivering actionable feedback.</a:t>
            </a: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a:extLst>
              <a:ext uri="{FF2B5EF4-FFF2-40B4-BE49-F238E27FC236}">
                <a16:creationId xmlns:a16="http://schemas.microsoft.com/office/drawing/2014/main" id="{097A4505-857B-26D5-4DFF-9B93A73ABC93}"/>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Abstract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7" name="TextShape 2">
            <a:extLst>
              <a:ext uri="{FF2B5EF4-FFF2-40B4-BE49-F238E27FC236}">
                <a16:creationId xmlns:a16="http://schemas.microsoft.com/office/drawing/2014/main" id="{D5027777-6312-D354-1D06-F013317FB214}"/>
              </a:ext>
            </a:extLst>
          </p:cNvPr>
          <p:cNvSpPr txBox="1"/>
          <p:nvPr/>
        </p:nvSpPr>
        <p:spPr>
          <a:xfrm>
            <a:off x="305280" y="1351566"/>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r>
              <a:rPr lang="en-US" sz="2100" dirty="0">
                <a:latin typeface="Times New Roman" panose="02020603050405020304" pitchFamily="18" charset="0"/>
                <a:cs typeface="Times New Roman" panose="02020603050405020304" pitchFamily="18" charset="0"/>
              </a:rPr>
              <a:t>In modern software engineering, the code review process is frequently the primary bottleneck in the delivery lifecycle. While automated linters handle syntax and formatting, they lack the contextual reasoning required to identify complex logical flaws, leaving human reviewers burdened with high-volume, repetitive tasks. </a:t>
            </a:r>
            <a:r>
              <a:rPr lang="en-US" sz="2100" b="1" dirty="0" err="1">
                <a:latin typeface="Times New Roman" panose="02020603050405020304" pitchFamily="18" charset="0"/>
                <a:cs typeface="Times New Roman" panose="02020603050405020304" pitchFamily="18" charset="0"/>
              </a:rPr>
              <a:t>Lintellect</a:t>
            </a:r>
            <a:r>
              <a:rPr lang="en-US" sz="2100" dirty="0">
                <a:latin typeface="Times New Roman" panose="02020603050405020304" pitchFamily="18" charset="0"/>
                <a:cs typeface="Times New Roman" panose="02020603050405020304" pitchFamily="18" charset="0"/>
              </a:rPr>
              <a:t> is an automated code review agent designed to bridge this gap. Utilizing a multi-stage </a:t>
            </a:r>
            <a:r>
              <a:rPr lang="en-US" sz="2100" b="1" dirty="0" err="1">
                <a:latin typeface="Times New Roman" panose="02020603050405020304" pitchFamily="18" charset="0"/>
                <a:cs typeface="Times New Roman" panose="02020603050405020304" pitchFamily="18" charset="0"/>
              </a:rPr>
              <a:t>StateGraph</a:t>
            </a:r>
            <a:r>
              <a:rPr lang="en-US" sz="2100" dirty="0">
                <a:latin typeface="Times New Roman" panose="02020603050405020304" pitchFamily="18" charset="0"/>
                <a:cs typeface="Times New Roman" panose="02020603050405020304" pitchFamily="18" charset="0"/>
              </a:rPr>
              <a:t> architecture, it simulates a senior developer’s reasoning to provide deep-logic analysis directly within the CI/CD pipeline. </a:t>
            </a:r>
            <a:br>
              <a:rPr lang="en-US" sz="2400" dirty="0"/>
            </a:br>
            <a:endParaRPr lang="en-US" sz="21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9ED1A-4686-AE92-CA31-3CD51329248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552E07A-63DB-B382-7418-CF10249A334C}"/>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Scope </a:t>
            </a:r>
            <a:r>
              <a:rPr lang="en" sz="3200" spc="-1" dirty="0">
                <a:solidFill>
                  <a:srgbClr val="000000"/>
                </a:solidFill>
                <a:latin typeface="Times New Roman" panose="02020603050405020304" pitchFamily="18" charset="0"/>
                <a:cs typeface="Times New Roman" panose="02020603050405020304" pitchFamily="18" charset="0"/>
              </a:rPr>
              <a:t>o</a:t>
            </a:r>
            <a:r>
              <a:rPr lang="en" sz="3200" b="0" strike="noStrike" spc="-1" dirty="0">
                <a:solidFill>
                  <a:srgbClr val="000000"/>
                </a:solidFill>
                <a:latin typeface="Times New Roman" panose="02020603050405020304" pitchFamily="18" charset="0"/>
                <a:cs typeface="Times New Roman" panose="02020603050405020304" pitchFamily="18" charset="0"/>
              </a:rPr>
              <a:t>f the Project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1F3F011F-3785-1850-17FA-F7712DBCA23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796F242C-BD36-78AD-19E9-3F215263F5AC}"/>
              </a:ext>
            </a:extLst>
          </p:cNvPr>
          <p:cNvSpPr txBox="1"/>
          <p:nvPr/>
        </p:nvSpPr>
        <p:spPr>
          <a:xfrm>
            <a:off x="164008" y="1109742"/>
            <a:ext cx="8838720" cy="5246778"/>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Overview: </a:t>
            </a:r>
            <a:r>
              <a:rPr lang="en-US" sz="2000" b="1" dirty="0" err="1">
                <a:latin typeface="Times New Roman" panose="02020603050405020304" pitchFamily="18" charset="0"/>
                <a:cs typeface="Times New Roman" panose="02020603050405020304" pitchFamily="18" charset="0"/>
              </a:rPr>
              <a:t>Lintellect</a:t>
            </a:r>
            <a:r>
              <a:rPr lang="en-US" sz="2000" dirty="0">
                <a:latin typeface="Times New Roman" panose="02020603050405020304" pitchFamily="18" charset="0"/>
                <a:cs typeface="Times New Roman" panose="02020603050405020304" pitchFamily="18" charset="0"/>
              </a:rPr>
              <a:t> is an intelligent, agentic code review platform designed to act as a helper within the CI/CD pipeline.</a:t>
            </a:r>
            <a:r>
              <a:rPr lang="en-US" sz="2000" dirty="0"/>
              <a:t> </a:t>
            </a:r>
            <a:r>
              <a:rPr lang="en-US" sz="2000" dirty="0">
                <a:latin typeface="Times New Roman" panose="02020603050405020304" pitchFamily="18" charset="0"/>
                <a:cs typeface="Times New Roman" panose="02020603050405020304" pitchFamily="18" charset="0"/>
              </a:rPr>
              <a:t>When a developer pushes code to GitLab or GitHub, </a:t>
            </a:r>
            <a:r>
              <a:rPr lang="en-US" sz="2000" dirty="0" err="1">
                <a:latin typeface="Times New Roman" panose="02020603050405020304" pitchFamily="18" charset="0"/>
                <a:cs typeface="Times New Roman" panose="02020603050405020304" pitchFamily="18" charset="0"/>
              </a:rPr>
              <a:t>Lintellect</a:t>
            </a:r>
            <a:r>
              <a:rPr lang="en-US" sz="2000" dirty="0">
                <a:latin typeface="Times New Roman" panose="02020603050405020304" pitchFamily="18" charset="0"/>
                <a:cs typeface="Times New Roman" panose="02020603050405020304" pitchFamily="18" charset="0"/>
              </a:rPr>
              <a:t> automatically intercepts the diff, detects the programming language, and executes a four-node analysis graph: </a:t>
            </a:r>
            <a:r>
              <a:rPr lang="en-US" sz="2000" b="1" dirty="0">
                <a:latin typeface="Times New Roman" panose="02020603050405020304" pitchFamily="18" charset="0"/>
                <a:cs typeface="Times New Roman" panose="02020603050405020304" pitchFamily="18" charset="0"/>
              </a:rPr>
              <a:t>Analyzer</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Issue Finder</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Validator</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Report Generator</a:t>
            </a:r>
            <a:endParaRPr lang="en-US" sz="2000" dirty="0">
              <a:latin typeface="Times New Roman" panose="02020603050405020304" pitchFamily="18" charset="0"/>
              <a:cs typeface="Times New Roman" panose="02020603050405020304" pitchFamily="18" charset="0"/>
            </a:endParaRPr>
          </a:p>
          <a:p>
            <a:pPr marL="457200" lvl="0" indent="-317500">
              <a:buClr>
                <a:srgbClr val="000000"/>
              </a:buClr>
              <a:buSzPts val="1400"/>
              <a:buChar char="●"/>
            </a:pP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Features:</a:t>
            </a:r>
          </a:p>
          <a:p>
            <a:pPr marL="914400" lvl="1" indent="-317500">
              <a:buClr>
                <a:srgbClr val="000000"/>
              </a:buClr>
              <a:buSzPts val="1400"/>
              <a:buChar char="●"/>
            </a:pPr>
            <a:r>
              <a:rPr lang="en-IN" sz="2000" dirty="0">
                <a:latin typeface="Times New Roman" panose="02020603050405020304" pitchFamily="18" charset="0"/>
                <a:cs typeface="Times New Roman" panose="02020603050405020304" pitchFamily="18" charset="0"/>
              </a:rPr>
              <a:t>Multi-Agent Reasoning Graph</a:t>
            </a:r>
          </a:p>
          <a:p>
            <a:pPr marL="914400" lvl="1" indent="-317500">
              <a:buClr>
                <a:srgbClr val="000000"/>
              </a:buClr>
              <a:buSzPts val="1400"/>
              <a:buChar char="●"/>
            </a:pPr>
            <a:r>
              <a:rPr lang="en-IN" sz="2000" dirty="0">
                <a:latin typeface="Times New Roman" panose="02020603050405020304" pitchFamily="18" charset="0"/>
                <a:cs typeface="Times New Roman" panose="02020603050405020304" pitchFamily="18" charset="0"/>
              </a:rPr>
              <a:t>Automated Language Detection</a:t>
            </a:r>
          </a:p>
          <a:p>
            <a:pPr marL="914400" lvl="1"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Seamless Pipeline Integration</a:t>
            </a:r>
          </a:p>
          <a:p>
            <a:pPr marL="139700" lvl="0">
              <a:buClr>
                <a:srgbClr val="000000"/>
              </a:buClr>
              <a:buSzPts val="1400"/>
            </a:pP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Future Enhancements:</a:t>
            </a:r>
          </a:p>
          <a:p>
            <a:pPr marL="914400" lvl="1" indent="-317500">
              <a:buClr>
                <a:srgbClr val="000000"/>
              </a:buClr>
              <a:buSzPts val="1400"/>
              <a:buChar char="●"/>
            </a:pPr>
            <a:r>
              <a:rPr lang="en-IN" sz="2000" dirty="0">
                <a:latin typeface="Times New Roman" panose="02020603050405020304" pitchFamily="18" charset="0"/>
                <a:cs typeface="Times New Roman" panose="02020603050405020304" pitchFamily="18" charset="0"/>
              </a:rPr>
              <a:t>Cross-File Contextual Awareness</a:t>
            </a:r>
          </a:p>
          <a:p>
            <a:pPr marL="914400" lvl="1" indent="-317500">
              <a:buClr>
                <a:srgbClr val="000000"/>
              </a:buClr>
              <a:buSzPts val="1400"/>
              <a:buChar char="●"/>
            </a:pPr>
            <a:r>
              <a:rPr lang="en-IN" sz="2000" dirty="0">
                <a:latin typeface="Times New Roman" panose="02020603050405020304" pitchFamily="18" charset="0"/>
                <a:cs typeface="Times New Roman" panose="02020603050405020304" pitchFamily="18" charset="0"/>
              </a:rPr>
              <a:t>Automated "Fix-It" Suggestions</a:t>
            </a: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95682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15448-84B6-B1AB-78D8-433A81955180}"/>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Sample Review</a:t>
            </a:r>
          </a:p>
        </p:txBody>
      </p:sp>
      <p:pic>
        <p:nvPicPr>
          <p:cNvPr id="4" name="Picture 3">
            <a:extLst>
              <a:ext uri="{FF2B5EF4-FFF2-40B4-BE49-F238E27FC236}">
                <a16:creationId xmlns:a16="http://schemas.microsoft.com/office/drawing/2014/main" id="{75FACB60-64BA-167C-F6B4-8FB403040D9E}"/>
              </a:ext>
            </a:extLst>
          </p:cNvPr>
          <p:cNvPicPr>
            <a:picLocks noChangeAspect="1"/>
          </p:cNvPicPr>
          <p:nvPr/>
        </p:nvPicPr>
        <p:blipFill>
          <a:blip r:embed="rId2"/>
          <a:stretch>
            <a:fillRect/>
          </a:stretch>
        </p:blipFill>
        <p:spPr>
          <a:xfrm>
            <a:off x="657461" y="1636081"/>
            <a:ext cx="8040675" cy="4190400"/>
          </a:xfrm>
          <a:prstGeom prst="rect">
            <a:avLst/>
          </a:prstGeom>
        </p:spPr>
      </p:pic>
    </p:spTree>
    <p:extLst>
      <p:ext uri="{BB962C8B-B14F-4D97-AF65-F5344CB8AC3E}">
        <p14:creationId xmlns:p14="http://schemas.microsoft.com/office/powerpoint/2010/main" val="2488281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50886-3B33-3BB9-2ED2-78158533907F}"/>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FEEF9F0-E910-6453-D481-F26773D9C4E9}"/>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Methodology</a:t>
            </a:r>
          </a:p>
        </p:txBody>
      </p:sp>
      <p:sp>
        <p:nvSpPr>
          <p:cNvPr id="110" name="TextShape 3">
            <a:extLst>
              <a:ext uri="{FF2B5EF4-FFF2-40B4-BE49-F238E27FC236}">
                <a16:creationId xmlns:a16="http://schemas.microsoft.com/office/drawing/2014/main" id="{30488D28-103A-2142-7909-98B53F53C27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7375C10B-CCED-B1D3-B340-C9CE8B2DBF52}"/>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System Design: </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architecture follows a modular, asynchronous Service-Oriented Architecture (SOA), leveraging a stateful graph-based logic engine to process code reviews. By utilizing RESTful APIs for communication</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Backend: </a:t>
            </a:r>
          </a:p>
          <a:p>
            <a:pPr marL="914400" lvl="1" indent="-317500">
              <a:buClr>
                <a:srgbClr val="000000"/>
              </a:buClr>
              <a:buSzPts val="1400"/>
              <a:buChar char="●"/>
            </a:pP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FastAPI</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914400" lvl="1" indent="-317500">
              <a:buClr>
                <a:srgbClr val="000000"/>
              </a:buClr>
              <a:buSzPts val="1400"/>
              <a:buChar char="●"/>
            </a:pP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LangChain</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914400" lvl="1" indent="-317500">
              <a:buClr>
                <a:srgbClr val="000000"/>
              </a:buClr>
              <a:buSzPts val="1400"/>
              <a:buChar char="●"/>
            </a:pPr>
            <a:r>
              <a:rPr lang="en-US" sz="2000" spc="-1"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LangGraph</a:t>
            </a: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2780232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5E29D-D8A9-142F-CDCD-DDEECCFB6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29EC8-7A69-3466-844F-6CABE68C6E25}"/>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Workflow</a:t>
            </a:r>
          </a:p>
        </p:txBody>
      </p:sp>
      <p:pic>
        <p:nvPicPr>
          <p:cNvPr id="7" name="Picture 6">
            <a:extLst>
              <a:ext uri="{FF2B5EF4-FFF2-40B4-BE49-F238E27FC236}">
                <a16:creationId xmlns:a16="http://schemas.microsoft.com/office/drawing/2014/main" id="{BF3A3766-C9CC-C420-F1B6-E8F023A754D0}"/>
              </a:ext>
            </a:extLst>
          </p:cNvPr>
          <p:cNvPicPr>
            <a:picLocks noChangeAspect="1"/>
          </p:cNvPicPr>
          <p:nvPr/>
        </p:nvPicPr>
        <p:blipFill>
          <a:blip r:embed="rId2"/>
          <a:stretch>
            <a:fillRect/>
          </a:stretch>
        </p:blipFill>
        <p:spPr>
          <a:xfrm>
            <a:off x="22311" y="1538573"/>
            <a:ext cx="9144000" cy="4627241"/>
          </a:xfrm>
          <a:prstGeom prst="rect">
            <a:avLst/>
          </a:prstGeom>
        </p:spPr>
      </p:pic>
    </p:spTree>
    <p:extLst>
      <p:ext uri="{BB962C8B-B14F-4D97-AF65-F5344CB8AC3E}">
        <p14:creationId xmlns:p14="http://schemas.microsoft.com/office/powerpoint/2010/main" val="925216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AD4B3-DEE0-3247-6DBE-63BA51818A6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C12494E-D031-E0F7-84C6-104340726A8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Tools and Technologies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AAA463F9-BD05-B702-E3D9-021B3C0A1DB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a:extLst>
              <a:ext uri="{FF2B5EF4-FFF2-40B4-BE49-F238E27FC236}">
                <a16:creationId xmlns:a16="http://schemas.microsoft.com/office/drawing/2014/main" id="{F3B03569-3B2C-773A-2474-3A561991DAA6}"/>
              </a:ext>
            </a:extLst>
          </p:cNvPr>
          <p:cNvSpPr txBox="1"/>
          <p:nvPr/>
        </p:nvSpPr>
        <p:spPr>
          <a:xfrm>
            <a:off x="164008" y="1109742"/>
            <a:ext cx="8838720" cy="5246778"/>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Frontend:</a:t>
            </a:r>
          </a:p>
          <a:p>
            <a:pPr marL="914400" lvl="1" indent="-317500">
              <a:buClr>
                <a:srgbClr val="000000"/>
              </a:buClr>
              <a:buSzPts val="1400"/>
              <a:buChar char="●"/>
            </a:pP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React.js</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914400" lvl="1"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Tailwind CSS</a:t>
            </a:r>
          </a:p>
          <a:p>
            <a:pPr marL="457200" lvl="0" indent="-317500">
              <a:buClr>
                <a:srgbClr val="000000"/>
              </a:buClr>
              <a:buSzPts val="1400"/>
              <a:buChar char="●"/>
            </a:pP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Backend:</a:t>
            </a:r>
          </a:p>
          <a:p>
            <a:pPr marL="914400" lvl="1"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Spring Boot</a:t>
            </a:r>
          </a:p>
          <a:p>
            <a:pPr marL="914400" lvl="1"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Compose</a:t>
            </a:r>
          </a:p>
          <a:p>
            <a:pPr marL="139700" lvl="0">
              <a:buClr>
                <a:srgbClr val="000000"/>
              </a:buClr>
              <a:buSzPts val="1400"/>
            </a:pP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Database:</a:t>
            </a:r>
          </a:p>
          <a:p>
            <a:pPr marL="914400" lvl="1"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PostgreSQL</a:t>
            </a:r>
          </a:p>
          <a:p>
            <a:pPr marL="914400" lvl="1"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Prisma ORM</a:t>
            </a:r>
          </a:p>
          <a:p>
            <a:pPr marL="457200" lvl="0" indent="-317500">
              <a:buClr>
                <a:srgbClr val="000000"/>
              </a:buClr>
              <a:buSzPts val="1400"/>
              <a:buChar char="●"/>
            </a:pP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Supporting Tools:</a:t>
            </a:r>
          </a:p>
          <a:p>
            <a:pPr marL="914400" lvl="1"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Docker, Render, GitHub, Postman</a:t>
            </a: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3836695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87471-4321-520F-2B6C-0594A8F541B8}"/>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F8C1666-A95B-F947-0D82-C9C8B17DAFF8}"/>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Expected Outcomes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E67A481-9F91-8DAE-D01D-805B62F73BC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a:extLst>
              <a:ext uri="{FF2B5EF4-FFF2-40B4-BE49-F238E27FC236}">
                <a16:creationId xmlns:a16="http://schemas.microsoft.com/office/drawing/2014/main" id="{E0B5EEFB-DE93-DE31-BF75-4091D7732D41}"/>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r>
              <a:rPr lang="en-US" sz="2000" dirty="0">
                <a:latin typeface="Times New Roman" panose="02020603050405020304" pitchFamily="18" charset="0"/>
                <a:cs typeface="Times New Roman" panose="02020603050405020304" pitchFamily="18" charset="0"/>
              </a:rPr>
              <a:t>Reduced Pull Request Lead Time: By automating the initial review pass, the agent eliminates the idle time where a PR sits waiting for a human reviewer.</a:t>
            </a:r>
          </a:p>
          <a:p>
            <a:pPr marL="457200" lvl="0" indent="-317500">
              <a:buClr>
                <a:srgbClr val="000000"/>
              </a:buClr>
              <a:buSzPts val="1400"/>
              <a:buChar char="●"/>
            </a:pPr>
            <a:r>
              <a:rPr lang="en-US" sz="2000" dirty="0">
                <a:latin typeface="Times New Roman" panose="02020603050405020304" pitchFamily="18" charset="0"/>
                <a:cs typeface="Times New Roman" panose="02020603050405020304" pitchFamily="18" charset="0"/>
              </a:rPr>
              <a:t>Enhanced Code Reliability and Security</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sz="2000" dirty="0">
                <a:latin typeface="Times New Roman" panose="02020603050405020304" pitchFamily="18" charset="0"/>
                <a:cs typeface="Times New Roman" panose="02020603050405020304" pitchFamily="18" charset="0"/>
              </a:rPr>
              <a:t>Unlike human reviews, which can vary based on the reviewer’s mood or workload, </a:t>
            </a:r>
            <a:r>
              <a:rPr lang="en-US" sz="2000" dirty="0" err="1">
                <a:latin typeface="Times New Roman" panose="02020603050405020304" pitchFamily="18" charset="0"/>
                <a:cs typeface="Times New Roman" panose="02020603050405020304" pitchFamily="18" charset="0"/>
              </a:rPr>
              <a:t>Lintellect</a:t>
            </a:r>
            <a:r>
              <a:rPr lang="en-US" sz="2000" dirty="0">
                <a:latin typeface="Times New Roman" panose="02020603050405020304" pitchFamily="18" charset="0"/>
                <a:cs typeface="Times New Roman" panose="02020603050405020304" pitchFamily="18" charset="0"/>
              </a:rPr>
              <a:t> provides a consistent, objective baseline for every PR.</a:t>
            </a:r>
          </a:p>
          <a:p>
            <a:pPr marL="457200" lvl="0" indent="-317500">
              <a:buClr>
                <a:srgbClr val="000000"/>
              </a:buClr>
              <a:buSzPts val="1400"/>
              <a:buChar char="●"/>
            </a:pP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139700" lvl="0">
              <a:buClr>
                <a:srgbClr val="000000"/>
              </a:buClr>
              <a:buSzPts val="1400"/>
            </a:pP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139700" lvl="0">
              <a:buClr>
                <a:srgbClr val="000000"/>
              </a:buClr>
              <a:buSzPts val="1400"/>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Future Prospects:</a:t>
            </a:r>
          </a:p>
          <a:p>
            <a:pPr marL="914400" lvl="1" indent="-317500">
              <a:buClr>
                <a:srgbClr val="000000"/>
              </a:buClr>
              <a:buSzPts val="1400"/>
              <a:buChar char="●"/>
            </a:pPr>
            <a:r>
              <a:rPr lang="en-US" sz="2000" dirty="0">
                <a:latin typeface="Times New Roman" panose="02020603050405020304" pitchFamily="18" charset="0"/>
                <a:cs typeface="Times New Roman" panose="02020603050405020304" pitchFamily="18" charset="0"/>
              </a:rPr>
              <a:t>Integration with Knowledge Graphs and RAG</a:t>
            </a:r>
          </a:p>
          <a:p>
            <a:pPr marL="914400" lvl="1" indent="-317500">
              <a:buClr>
                <a:srgbClr val="000000"/>
              </a:buClr>
              <a:buSzPts val="1400"/>
              <a:buChar char="●"/>
            </a:pPr>
            <a:r>
              <a:rPr lang="en-US" sz="2000" dirty="0">
                <a:latin typeface="Times New Roman" panose="02020603050405020304" pitchFamily="18" charset="0"/>
                <a:cs typeface="Times New Roman" panose="02020603050405020304" pitchFamily="18" charset="0"/>
              </a:rPr>
              <a:t>Code (Auto-Fix Capabilities) Future iterations will transition from identifying issues to proposing solutions.</a:t>
            </a:r>
          </a:p>
          <a:p>
            <a:pPr marL="914400" lvl="1" indent="-317500">
              <a:buClr>
                <a:srgbClr val="000000"/>
              </a:buClr>
              <a:buSzPts val="1400"/>
              <a:buChar char="●"/>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918171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34AD-32AE-811C-5A3F-E69DBD911B4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9F51CC60-502C-A91B-73A2-503A2C4A8CF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References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07DE79A-64EB-FC1B-F243-C344E43EF836}"/>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
        <p:nvSpPr>
          <p:cNvPr id="5" name="TextShape 2">
            <a:extLst>
              <a:ext uri="{FF2B5EF4-FFF2-40B4-BE49-F238E27FC236}">
                <a16:creationId xmlns:a16="http://schemas.microsoft.com/office/drawing/2014/main" id="{F4BAD209-945B-9EF0-9968-358E6BC9F95D}"/>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FastAPI</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Documentation</a:t>
            </a:r>
          </a:p>
          <a:p>
            <a:pPr marL="457200" lvl="0" indent="-317500">
              <a:buClr>
                <a:srgbClr val="000000"/>
              </a:buClr>
              <a:buSzPts val="1400"/>
              <a:buChar char="●"/>
            </a:pP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LangChain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Documentation</a:t>
            </a:r>
          </a:p>
          <a:p>
            <a:pPr marL="457200" lvl="0" indent="-317500">
              <a:buClr>
                <a:srgbClr val="000000"/>
              </a:buClr>
              <a:buSzPts val="1400"/>
              <a:buChar char="●"/>
            </a:pP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LangGraph</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Documentation</a:t>
            </a: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2005463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36352</TotalTime>
  <Words>569</Words>
  <Application>Microsoft Office PowerPoint</Application>
  <PresentationFormat>On-screen Show (4:3)</PresentationFormat>
  <Paragraphs>138</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PowerPoint Presentation</vt:lpstr>
      <vt:lpstr>PowerPoint Presentation</vt:lpstr>
      <vt:lpstr>Sample Review</vt:lpstr>
      <vt:lpstr>PowerPoint Presentation</vt:lpstr>
      <vt:lpstr>Workflow</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Sneha Sharma</cp:lastModifiedBy>
  <cp:revision>2301</cp:revision>
  <dcterms:created xsi:type="dcterms:W3CDTF">2010-04-09T07:36:15Z</dcterms:created>
  <dcterms:modified xsi:type="dcterms:W3CDTF">2026-04-30T03:38:39Z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